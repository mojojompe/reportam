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embeddedFontLst>
    <p:embeddedFont>
      <p:font typeface="Int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0" roundtripDataSignature="AMtx7mj3RX7QLRrDChfzjSgWX2MIZ8cA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notesMaster" Target="notesMasters/notesMaster1.xml"/><Relationship Id="rId19" Type="http://schemas.openxmlformats.org/officeDocument/2006/relationships/font" Target="fonts/Inter-boldItalic.fntdata"/><Relationship Id="rId6" Type="http://schemas.openxmlformats.org/officeDocument/2006/relationships/slide" Target="slides/slide1.xml"/><Relationship Id="rId18"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65caf97638ad906f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65caf97638ad906f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5e40f02d7cc32e8e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5e40f02d7cc32e8e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8"/>
          <p:cNvSpPr/>
          <p:nvPr>
            <p:ph idx="2" type="pic"/>
          </p:nvPr>
        </p:nvSpPr>
        <p:spPr>
          <a:xfrm>
            <a:off x="1792288" y="612775"/>
            <a:ext cx="5486400" cy="4114800"/>
          </a:xfrm>
          <a:prstGeom prst="rect">
            <a:avLst/>
          </a:prstGeom>
          <a:noFill/>
          <a:ln>
            <a:noFill/>
          </a:ln>
        </p:spPr>
      </p:sp>
      <p:sp>
        <p:nvSpPr>
          <p:cNvPr id="64" name="Google Shape;64;p1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jpg"/><Relationship Id="rId5" Type="http://schemas.openxmlformats.org/officeDocument/2006/relationships/image" Target="../media/image7.jpg"/><Relationship Id="rId6"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7857"/>
        </a:solidFill>
      </p:bgPr>
    </p:bg>
    <p:spTree>
      <p:nvGrpSpPr>
        <p:cNvPr id="83" name="Shape 83"/>
        <p:cNvGrpSpPr/>
        <p:nvPr/>
      </p:nvGrpSpPr>
      <p:grpSpPr>
        <a:xfrm>
          <a:off x="0" y="0"/>
          <a:ext cx="0" cy="0"/>
          <a:chOff x="0" y="0"/>
          <a:chExt cx="0" cy="0"/>
        </a:xfrm>
      </p:grpSpPr>
      <p:cxnSp>
        <p:nvCxnSpPr>
          <p:cNvPr id="84" name="Google Shape;84;p1"/>
          <p:cNvCxnSpPr/>
          <p:nvPr/>
        </p:nvCxnSpPr>
        <p:spPr>
          <a:xfrm>
            <a:off x="10165775" y="8743950"/>
            <a:ext cx="7191300" cy="0"/>
          </a:xfrm>
          <a:prstGeom prst="straightConnector1">
            <a:avLst/>
          </a:prstGeom>
          <a:noFill/>
          <a:ln cap="flat" cmpd="sng" w="19050">
            <a:solidFill>
              <a:schemeClr val="lt1"/>
            </a:solidFill>
            <a:prstDash val="solid"/>
            <a:round/>
            <a:headEnd len="sm" w="sm" type="none"/>
            <a:tailEnd len="sm" w="sm" type="none"/>
          </a:ln>
        </p:spPr>
      </p:cxnSp>
      <p:sp>
        <p:nvSpPr>
          <p:cNvPr id="85" name="Google Shape;85;p1"/>
          <p:cNvSpPr txBox="1"/>
          <p:nvPr/>
        </p:nvSpPr>
        <p:spPr>
          <a:xfrm>
            <a:off x="10659475" y="723900"/>
            <a:ext cx="5523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99"/>
              <a:buFont typeface="Arial"/>
              <a:buNone/>
            </a:pPr>
            <a:r>
              <a:rPr b="0" i="0" lang="en-US" sz="3599" u="none" cap="none" strike="noStrike">
                <a:solidFill>
                  <a:schemeClr val="lt1"/>
                </a:solidFill>
                <a:latin typeface="Arial"/>
                <a:ea typeface="Arial"/>
                <a:cs typeface="Arial"/>
                <a:sym typeface="Arial"/>
              </a:rPr>
              <a:t>ReportAm</a:t>
            </a:r>
            <a:endParaRPr b="0" i="0" sz="2200" u="none" cap="none" strike="noStrike">
              <a:solidFill>
                <a:schemeClr val="lt1"/>
              </a:solidFill>
              <a:latin typeface="Arial"/>
              <a:ea typeface="Arial"/>
              <a:cs typeface="Arial"/>
              <a:sym typeface="Arial"/>
            </a:endParaRPr>
          </a:p>
        </p:txBody>
      </p:sp>
      <p:sp>
        <p:nvSpPr>
          <p:cNvPr id="86" name="Google Shape;86;p1"/>
          <p:cNvSpPr txBox="1"/>
          <p:nvPr/>
        </p:nvSpPr>
        <p:spPr>
          <a:xfrm>
            <a:off x="0" y="4087230"/>
            <a:ext cx="18288000" cy="681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87" name="Google Shape;87;p1"/>
          <p:cNvSpPr txBox="1"/>
          <p:nvPr/>
        </p:nvSpPr>
        <p:spPr>
          <a:xfrm>
            <a:off x="10165765" y="7765753"/>
            <a:ext cx="77196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lt1"/>
                </a:solidFill>
                <a:latin typeface="Arial"/>
                <a:ea typeface="Arial"/>
                <a:cs typeface="Arial"/>
                <a:sym typeface="Arial"/>
              </a:rPr>
              <a:t>Making Oyo better - Team Nova</a:t>
            </a:r>
            <a:endParaRPr b="1" i="0" sz="3500" u="none" cap="none" strike="noStrike">
              <a:solidFill>
                <a:schemeClr val="lt1"/>
              </a:solidFill>
              <a:latin typeface="Arial"/>
              <a:ea typeface="Arial"/>
              <a:cs typeface="Arial"/>
              <a:sym typeface="Arial"/>
            </a:endParaRPr>
          </a:p>
        </p:txBody>
      </p:sp>
      <p:pic>
        <p:nvPicPr>
          <p:cNvPr id="88" name="Google Shape;88;p1" title="Logo.png"/>
          <p:cNvPicPr preferRelativeResize="0"/>
          <p:nvPr/>
        </p:nvPicPr>
        <p:blipFill>
          <a:blip r:embed="rId3">
            <a:alphaModFix/>
          </a:blip>
          <a:stretch>
            <a:fillRect/>
          </a:stretch>
        </p:blipFill>
        <p:spPr>
          <a:xfrm>
            <a:off x="0" y="0"/>
            <a:ext cx="9706376" cy="10286999"/>
          </a:xfrm>
          <a:prstGeom prst="rect">
            <a:avLst/>
          </a:prstGeom>
          <a:noFill/>
          <a:ln>
            <a:noFill/>
          </a:ln>
        </p:spPr>
      </p:pic>
      <p:grpSp>
        <p:nvGrpSpPr>
          <p:cNvPr id="89" name="Google Shape;89;p1"/>
          <p:cNvGrpSpPr/>
          <p:nvPr/>
        </p:nvGrpSpPr>
        <p:grpSpPr>
          <a:xfrm>
            <a:off x="16990000" y="553263"/>
            <a:ext cx="895380" cy="895380"/>
            <a:chOff x="0" y="0"/>
            <a:chExt cx="1193841" cy="1193841"/>
          </a:xfrm>
        </p:grpSpPr>
        <p:grpSp>
          <p:nvGrpSpPr>
            <p:cNvPr id="90" name="Google Shape;90;p1"/>
            <p:cNvGrpSpPr/>
            <p:nvPr/>
          </p:nvGrpSpPr>
          <p:grpSpPr>
            <a:xfrm>
              <a:off x="0" y="0"/>
              <a:ext cx="1193841" cy="1193841"/>
              <a:chOff x="0" y="0"/>
              <a:chExt cx="812800" cy="812800"/>
            </a:xfrm>
          </p:grpSpPr>
          <p:sp>
            <p:nvSpPr>
              <p:cNvPr id="91" name="Google Shape;91;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cap="sq" cmpd="sng" w="1905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76200" y="9525"/>
                <a:ext cx="660300" cy="7272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3" name="Google Shape;93;p1"/>
            <p:cNvSpPr/>
            <p:nvPr/>
          </p:nvSpPr>
          <p:spPr>
            <a:xfrm>
              <a:off x="302457" y="301921"/>
              <a:ext cx="588886" cy="589958"/>
            </a:xfrm>
            <a:custGeom>
              <a:rect b="b" l="l" r="r" t="t"/>
              <a:pathLst>
                <a:path extrusionOk="0" h="589958" w="588886">
                  <a:moveTo>
                    <a:pt x="0" y="0"/>
                  </a:moveTo>
                  <a:lnTo>
                    <a:pt x="588886" y="0"/>
                  </a:lnTo>
                  <a:lnTo>
                    <a:pt x="588886" y="589958"/>
                  </a:lnTo>
                  <a:lnTo>
                    <a:pt x="0" y="589958"/>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65caf97638ad906f_5"/>
          <p:cNvSpPr txBox="1"/>
          <p:nvPr>
            <p:ph type="ctrTitle"/>
          </p:nvPr>
        </p:nvSpPr>
        <p:spPr>
          <a:xfrm>
            <a:off x="685800" y="2130425"/>
            <a:ext cx="8458200" cy="1470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Community challenges .</a:t>
            </a:r>
            <a:endParaRPr/>
          </a:p>
        </p:txBody>
      </p:sp>
      <p:sp>
        <p:nvSpPr>
          <p:cNvPr id="99" name="Google Shape;99;g65caf97638ad906f_5"/>
          <p:cNvSpPr txBox="1"/>
          <p:nvPr>
            <p:ph idx="1" type="subTitle"/>
          </p:nvPr>
        </p:nvSpPr>
        <p:spPr>
          <a:xfrm>
            <a:off x="685800" y="3429000"/>
            <a:ext cx="7771800" cy="45813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640"/>
              </a:spcBef>
              <a:spcAft>
                <a:spcPts val="0"/>
              </a:spcAft>
              <a:buSzPts val="3200"/>
              <a:buNone/>
            </a:pPr>
            <a:r>
              <a:rPr lang="en-US" sz="4900"/>
              <a:t>For such an integrated society, oyo faces certain community challenges that although not unique to it remains bothersome </a:t>
            </a:r>
            <a:endParaRPr sz="4900"/>
          </a:p>
        </p:txBody>
      </p:sp>
      <p:sp>
        <p:nvSpPr>
          <p:cNvPr id="100" name="Google Shape;100;g65caf97638ad906f_5"/>
          <p:cNvSpPr txBox="1"/>
          <p:nvPr/>
        </p:nvSpPr>
        <p:spPr>
          <a:xfrm>
            <a:off x="8982325" y="2130425"/>
            <a:ext cx="8585400" cy="7018800"/>
          </a:xfrm>
          <a:prstGeom prst="rect">
            <a:avLst/>
          </a:prstGeom>
          <a:solidFill>
            <a:srgbClr val="F3F3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t/>
            </a:r>
            <a:endParaRPr sz="3700">
              <a:solidFill>
                <a:schemeClr val="dk1"/>
              </a:solidFill>
            </a:endParaRPr>
          </a:p>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dk1"/>
                </a:solidFill>
                <a:latin typeface="Arial"/>
                <a:ea typeface="Arial"/>
                <a:cs typeface="Arial"/>
                <a:sym typeface="Arial"/>
              </a:rPr>
              <a:t>Community issues in Oyo go untracked.</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700"/>
              <a:buFont typeface="Arial"/>
              <a:buNone/>
            </a:pPr>
            <a:r>
              <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dk1"/>
                </a:solidFill>
                <a:latin typeface="Arial"/>
                <a:ea typeface="Arial"/>
                <a:cs typeface="Arial"/>
                <a:sym typeface="Arial"/>
              </a:rPr>
              <a:t>Complaints are scattered across social media, with even less members of the state being technologically literate. </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700"/>
              <a:buFont typeface="Arial"/>
              <a:buNone/>
            </a:pPr>
            <a:r>
              <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dk1"/>
                </a:solidFill>
                <a:latin typeface="Arial"/>
                <a:ea typeface="Arial"/>
                <a:cs typeface="Arial"/>
                <a:sym typeface="Arial"/>
              </a:rPr>
              <a:t>No centralized reporting system or enforced accountability platform. </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700"/>
              <a:buFont typeface="Arial"/>
              <a:buNone/>
            </a:pPr>
            <a:r>
              <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dk1"/>
                </a:solidFill>
                <a:latin typeface="Arial"/>
                <a:ea typeface="Arial"/>
                <a:cs typeface="Arial"/>
                <a:sym typeface="Arial"/>
              </a:rPr>
              <a:t>No transparency on resolution</a:t>
            </a:r>
            <a:endParaRPr b="0" i="0" sz="3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700"/>
              <a:buFont typeface="Arial"/>
              <a:buNone/>
            </a:pPr>
            <a:r>
              <a:t/>
            </a:r>
            <a:endParaRPr sz="3700">
              <a:solidFill>
                <a:schemeClr val="dk1"/>
              </a:solidFill>
            </a:endParaRPr>
          </a:p>
        </p:txBody>
      </p:sp>
      <p:sp>
        <p:nvSpPr>
          <p:cNvPr id="101" name="Google Shape;101;g65caf97638ad906f_5"/>
          <p:cNvSpPr txBox="1"/>
          <p:nvPr/>
        </p:nvSpPr>
        <p:spPr>
          <a:xfrm>
            <a:off x="685799" y="740606"/>
            <a:ext cx="16146000" cy="1000500"/>
          </a:xfrm>
          <a:prstGeom prst="rect">
            <a:avLst/>
          </a:prstGeom>
          <a:solidFill>
            <a:srgbClr val="047857"/>
          </a:solidFill>
          <a:ln cap="flat" cmpd="sng" w="9525">
            <a:solidFill>
              <a:srgbClr val="047857"/>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300"/>
              <a:buFont typeface="Arial"/>
              <a:buNone/>
            </a:pPr>
            <a:r>
              <a:rPr b="0" i="0" lang="en-US" sz="5300" u="none" cap="none" strike="noStrike">
                <a:solidFill>
                  <a:schemeClr val="lt1"/>
                </a:solidFill>
                <a:latin typeface="Arial"/>
                <a:ea typeface="Arial"/>
                <a:cs typeface="Arial"/>
                <a:sym typeface="Arial"/>
              </a:rPr>
              <a:t>Problems in Oyo: </a:t>
            </a:r>
            <a:endParaRPr b="0" i="0" sz="53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5e40f02d7cc32e8e_0"/>
          <p:cNvSpPr txBox="1"/>
          <p:nvPr>
            <p:ph idx="1" type="body"/>
          </p:nvPr>
        </p:nvSpPr>
        <p:spPr>
          <a:xfrm>
            <a:off x="685800" y="2304675"/>
            <a:ext cx="16711200" cy="7314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360"/>
              </a:spcBef>
              <a:spcAft>
                <a:spcPts val="0"/>
              </a:spcAft>
              <a:buSzPts val="1800"/>
              <a:buNone/>
            </a:pPr>
            <a:r>
              <a:rPr lang="en-US" sz="5600"/>
              <a:t>A web platform that allows residents to:</a:t>
            </a:r>
            <a:endParaRPr sz="5600"/>
          </a:p>
          <a:p>
            <a:pPr indent="0" lvl="0" marL="0" rtl="0" algn="ctr">
              <a:lnSpc>
                <a:spcPct val="100000"/>
              </a:lnSpc>
              <a:spcBef>
                <a:spcPts val="360"/>
              </a:spcBef>
              <a:spcAft>
                <a:spcPts val="0"/>
              </a:spcAft>
              <a:buSzPts val="1800"/>
              <a:buNone/>
            </a:pPr>
            <a:r>
              <a:rPr lang="en-US" sz="5600"/>
              <a:t>	•	Report issues with photos</a:t>
            </a:r>
            <a:endParaRPr sz="5600"/>
          </a:p>
          <a:p>
            <a:pPr indent="0" lvl="0" marL="0" rtl="0" algn="ctr">
              <a:lnSpc>
                <a:spcPct val="100000"/>
              </a:lnSpc>
              <a:spcBef>
                <a:spcPts val="360"/>
              </a:spcBef>
              <a:spcAft>
                <a:spcPts val="0"/>
              </a:spcAft>
              <a:buSzPts val="1800"/>
              <a:buNone/>
            </a:pPr>
            <a:r>
              <a:rPr lang="en-US" sz="5600"/>
              <a:t>	•	Capture location automatically</a:t>
            </a:r>
            <a:endParaRPr sz="5600"/>
          </a:p>
          <a:p>
            <a:pPr indent="0" lvl="0" marL="0" rtl="0" algn="ctr">
              <a:lnSpc>
                <a:spcPct val="100000"/>
              </a:lnSpc>
              <a:spcBef>
                <a:spcPts val="360"/>
              </a:spcBef>
              <a:spcAft>
                <a:spcPts val="0"/>
              </a:spcAft>
              <a:buSzPts val="1800"/>
              <a:buNone/>
            </a:pPr>
            <a:r>
              <a:rPr lang="en-US" sz="5600"/>
              <a:t>	•	Categorize problems</a:t>
            </a:r>
            <a:endParaRPr sz="5600"/>
          </a:p>
          <a:p>
            <a:pPr indent="0" lvl="0" marL="0" rtl="0" algn="ctr">
              <a:lnSpc>
                <a:spcPct val="100000"/>
              </a:lnSpc>
              <a:spcBef>
                <a:spcPts val="360"/>
              </a:spcBef>
              <a:spcAft>
                <a:spcPts val="0"/>
              </a:spcAft>
              <a:buSzPts val="1800"/>
              <a:buNone/>
            </a:pPr>
            <a:r>
              <a:rPr lang="en-US" sz="5600"/>
              <a:t>	•	Track status publicly</a:t>
            </a:r>
            <a:endParaRPr sz="5600"/>
          </a:p>
          <a:p>
            <a:pPr indent="0" lvl="0" marL="0" rtl="0" algn="ctr">
              <a:lnSpc>
                <a:spcPct val="100000"/>
              </a:lnSpc>
              <a:spcBef>
                <a:spcPts val="360"/>
              </a:spcBef>
              <a:spcAft>
                <a:spcPts val="0"/>
              </a:spcAft>
              <a:buSzPts val="1800"/>
              <a:buNone/>
            </a:pPr>
            <a:r>
              <a:t/>
            </a:r>
            <a:endParaRPr sz="5600"/>
          </a:p>
          <a:p>
            <a:pPr indent="0" lvl="0" marL="0" rtl="0" algn="ctr">
              <a:lnSpc>
                <a:spcPct val="100000"/>
              </a:lnSpc>
              <a:spcBef>
                <a:spcPts val="360"/>
              </a:spcBef>
              <a:spcAft>
                <a:spcPts val="0"/>
              </a:spcAft>
              <a:buSzPts val="1800"/>
              <a:buNone/>
            </a:pPr>
            <a:r>
              <a:rPr lang="en-US" sz="5600"/>
              <a:t>Ensuring accountability, traceability and transparency </a:t>
            </a:r>
            <a:endParaRPr sz="5600"/>
          </a:p>
        </p:txBody>
      </p:sp>
      <p:sp>
        <p:nvSpPr>
          <p:cNvPr id="107" name="Google Shape;107;g5e40f02d7cc32e8e_0"/>
          <p:cNvSpPr txBox="1"/>
          <p:nvPr/>
        </p:nvSpPr>
        <p:spPr>
          <a:xfrm>
            <a:off x="685800" y="740600"/>
            <a:ext cx="16711200" cy="1000500"/>
          </a:xfrm>
          <a:prstGeom prst="rect">
            <a:avLst/>
          </a:prstGeom>
          <a:solidFill>
            <a:srgbClr val="047857"/>
          </a:solidFill>
          <a:ln cap="flat" cmpd="sng" w="9525">
            <a:solidFill>
              <a:srgbClr val="047857"/>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300"/>
              <a:buFont typeface="Arial"/>
              <a:buNone/>
            </a:pPr>
            <a:r>
              <a:rPr b="0" i="0" lang="en-US" sz="5300" u="none" cap="none" strike="noStrike">
                <a:solidFill>
                  <a:schemeClr val="lt1"/>
                </a:solidFill>
                <a:latin typeface="Arial"/>
                <a:ea typeface="Arial"/>
                <a:cs typeface="Arial"/>
                <a:sym typeface="Arial"/>
              </a:rPr>
              <a:t>Pr</a:t>
            </a:r>
            <a:r>
              <a:rPr lang="en-US" sz="5300">
                <a:solidFill>
                  <a:schemeClr val="lt1"/>
                </a:solidFill>
              </a:rPr>
              <a:t>oposed Solution</a:t>
            </a:r>
            <a:r>
              <a:rPr b="0" i="0" lang="en-US" sz="5300" u="none" cap="none" strike="noStrike">
                <a:solidFill>
                  <a:schemeClr val="lt1"/>
                </a:solidFill>
                <a:latin typeface="Arial"/>
                <a:ea typeface="Arial"/>
                <a:cs typeface="Arial"/>
                <a:sym typeface="Arial"/>
              </a:rPr>
              <a:t>: </a:t>
            </a:r>
            <a:endParaRPr b="0" i="0" sz="53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5B42">
            <a:alpha val="92160"/>
          </a:srgbClr>
        </a:solidFill>
      </p:bgPr>
    </p:bg>
    <p:spTree>
      <p:nvGrpSpPr>
        <p:cNvPr id="111" name="Shape 111"/>
        <p:cNvGrpSpPr/>
        <p:nvPr/>
      </p:nvGrpSpPr>
      <p:grpSpPr>
        <a:xfrm>
          <a:off x="0" y="0"/>
          <a:ext cx="0" cy="0"/>
          <a:chOff x="0" y="0"/>
          <a:chExt cx="0" cy="0"/>
        </a:xfrm>
      </p:grpSpPr>
      <p:grpSp>
        <p:nvGrpSpPr>
          <p:cNvPr id="112" name="Google Shape;112;p2"/>
          <p:cNvGrpSpPr/>
          <p:nvPr/>
        </p:nvGrpSpPr>
        <p:grpSpPr>
          <a:xfrm>
            <a:off x="9240075" y="4461275"/>
            <a:ext cx="7247600" cy="5467975"/>
            <a:chOff x="-1992800" y="-3703"/>
            <a:chExt cx="9663467" cy="7290633"/>
          </a:xfrm>
        </p:grpSpPr>
        <p:cxnSp>
          <p:nvCxnSpPr>
            <p:cNvPr id="113" name="Google Shape;113;p2"/>
            <p:cNvCxnSpPr/>
            <p:nvPr/>
          </p:nvCxnSpPr>
          <p:spPr>
            <a:xfrm>
              <a:off x="-1992800" y="-3703"/>
              <a:ext cx="9257100" cy="16500"/>
            </a:xfrm>
            <a:prstGeom prst="straightConnector1">
              <a:avLst/>
            </a:prstGeom>
            <a:noFill/>
            <a:ln cap="flat" cmpd="sng" w="25400">
              <a:solidFill>
                <a:srgbClr val="FFFFFF"/>
              </a:solidFill>
              <a:prstDash val="solid"/>
              <a:round/>
              <a:headEnd len="sm" w="sm" type="none"/>
              <a:tailEnd len="sm" w="sm" type="none"/>
            </a:ln>
          </p:spPr>
        </p:cxnSp>
        <p:sp>
          <p:nvSpPr>
            <p:cNvPr id="114" name="Google Shape;114;p2"/>
            <p:cNvSpPr txBox="1"/>
            <p:nvPr/>
          </p:nvSpPr>
          <p:spPr>
            <a:xfrm>
              <a:off x="-1940733" y="276231"/>
              <a:ext cx="9611400" cy="7010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t/>
              </a:r>
              <a:endParaRPr sz="2800">
                <a:solidFill>
                  <a:srgbClr val="FFFFFF"/>
                </a:solidFill>
                <a:latin typeface="Inter"/>
                <a:ea typeface="Inter"/>
                <a:cs typeface="Inter"/>
                <a:sym typeface="Inter"/>
              </a:endParaRPr>
            </a:p>
            <a:p>
              <a:pPr indent="0" lvl="0" marL="0" marR="0" rtl="0" algn="l">
                <a:lnSpc>
                  <a:spcPct val="140000"/>
                </a:lnSpc>
                <a:spcBef>
                  <a:spcPts val="0"/>
                </a:spcBef>
                <a:spcAft>
                  <a:spcPts val="0"/>
                </a:spcAft>
                <a:buClr>
                  <a:srgbClr val="000000"/>
                </a:buClr>
                <a:buSzPts val="2100"/>
                <a:buFont typeface="Arial"/>
                <a:buNone/>
              </a:pPr>
              <a:r>
                <a:rPr b="0" i="0" lang="en-US" sz="2800" u="none" cap="none" strike="noStrike">
                  <a:solidFill>
                    <a:srgbClr val="FFFFFF"/>
                  </a:solidFill>
                  <a:latin typeface="Inter"/>
                  <a:ea typeface="Inter"/>
                  <a:cs typeface="Inter"/>
                  <a:sym typeface="Inter"/>
                </a:rPr>
                <a:t>ReportAm is a </a:t>
              </a:r>
              <a:r>
                <a:rPr b="1" i="0" lang="en-US" sz="2800" u="none" cap="none" strike="noStrike">
                  <a:solidFill>
                    <a:srgbClr val="FFFFFF"/>
                  </a:solidFill>
                  <a:latin typeface="Inter"/>
                  <a:ea typeface="Inter"/>
                  <a:cs typeface="Inter"/>
                  <a:sym typeface="Inter"/>
                </a:rPr>
                <a:t>community-driven web app</a:t>
              </a:r>
              <a:r>
                <a:rPr b="0" i="0" lang="en-US" sz="2800" u="none" cap="none" strike="noStrike">
                  <a:solidFill>
                    <a:srgbClr val="FFFFFF"/>
                  </a:solidFill>
                  <a:latin typeface="Inter"/>
                  <a:ea typeface="Inter"/>
                  <a:cs typeface="Inter"/>
                  <a:sym typeface="Inter"/>
                </a:rPr>
                <a:t> designed to empower residents in Oyo to report issues affecting their neighborhoods. Users can easily upload photos, pinpoint locations, and categorize problems, facilitating transparent tracking and resolution of community concerns for effective civic engagement.</a:t>
              </a:r>
              <a:endParaRPr b="0" i="0" sz="2100" u="none" cap="none" strike="noStrike">
                <a:solidFill>
                  <a:srgbClr val="000000"/>
                </a:solidFill>
                <a:latin typeface="Arial"/>
                <a:ea typeface="Arial"/>
                <a:cs typeface="Arial"/>
                <a:sym typeface="Arial"/>
              </a:endParaRPr>
            </a:p>
          </p:txBody>
        </p:sp>
      </p:grpSp>
      <p:sp>
        <p:nvSpPr>
          <p:cNvPr id="115" name="Google Shape;115;p2"/>
          <p:cNvSpPr txBox="1"/>
          <p:nvPr/>
        </p:nvSpPr>
        <p:spPr>
          <a:xfrm>
            <a:off x="9114775" y="857250"/>
            <a:ext cx="8506500" cy="3078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999"/>
              <a:buFont typeface="Arial"/>
              <a:buNone/>
            </a:pPr>
            <a:r>
              <a:rPr b="0" i="0" lang="en-US" sz="9999" u="none" cap="none" strike="noStrike">
                <a:solidFill>
                  <a:srgbClr val="FFFFFF"/>
                </a:solidFill>
                <a:latin typeface="Arial"/>
                <a:ea typeface="Arial"/>
                <a:cs typeface="Arial"/>
                <a:sym typeface="Arial"/>
              </a:rPr>
              <a:t>What is ReportAm?</a:t>
            </a:r>
            <a:endParaRPr b="0" i="0" sz="1400" u="none" cap="none" strike="noStrike">
              <a:solidFill>
                <a:srgbClr val="000000"/>
              </a:solidFill>
              <a:latin typeface="Arial"/>
              <a:ea typeface="Arial"/>
              <a:cs typeface="Arial"/>
              <a:sym typeface="Arial"/>
            </a:endParaRPr>
          </a:p>
        </p:txBody>
      </p:sp>
      <p:pic>
        <p:nvPicPr>
          <p:cNvPr id="116" name="Google Shape;116;p2" title="RA4.jpeg"/>
          <p:cNvPicPr preferRelativeResize="0"/>
          <p:nvPr/>
        </p:nvPicPr>
        <p:blipFill>
          <a:blip r:embed="rId3">
            <a:alphaModFix/>
          </a:blip>
          <a:stretch>
            <a:fillRect/>
          </a:stretch>
        </p:blipFill>
        <p:spPr>
          <a:xfrm>
            <a:off x="0" y="0"/>
            <a:ext cx="7247599" cy="10287002"/>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txBox="1"/>
          <p:nvPr/>
        </p:nvSpPr>
        <p:spPr>
          <a:xfrm>
            <a:off x="666750" y="857250"/>
            <a:ext cx="16954500" cy="1539000"/>
          </a:xfrm>
          <a:prstGeom prst="rect">
            <a:avLst/>
          </a:prstGeom>
          <a:solidFill>
            <a:srgbClr val="047857"/>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999"/>
              <a:buFont typeface="Arial"/>
              <a:buNone/>
            </a:pPr>
            <a:r>
              <a:rPr lang="en-US" sz="9999">
                <a:solidFill>
                  <a:schemeClr val="lt1"/>
                </a:solidFill>
              </a:rPr>
              <a:t> </a:t>
            </a:r>
            <a:r>
              <a:rPr b="0" i="0" lang="en-US" sz="9999" u="none" cap="none" strike="noStrike">
                <a:solidFill>
                  <a:schemeClr val="lt1"/>
                </a:solidFill>
                <a:latin typeface="Arial"/>
                <a:ea typeface="Arial"/>
                <a:cs typeface="Arial"/>
                <a:sym typeface="Arial"/>
              </a:rPr>
              <a:t>Core User Flow</a:t>
            </a:r>
            <a:endParaRPr b="0" i="0" sz="1400" u="none" cap="none" strike="noStrike">
              <a:solidFill>
                <a:schemeClr val="lt1"/>
              </a:solidFill>
              <a:latin typeface="Arial"/>
              <a:ea typeface="Arial"/>
              <a:cs typeface="Arial"/>
              <a:sym typeface="Arial"/>
            </a:endParaRPr>
          </a:p>
        </p:txBody>
      </p:sp>
      <p:grpSp>
        <p:nvGrpSpPr>
          <p:cNvPr id="122" name="Google Shape;122;p3"/>
          <p:cNvGrpSpPr/>
          <p:nvPr/>
        </p:nvGrpSpPr>
        <p:grpSpPr>
          <a:xfrm>
            <a:off x="666750" y="4298156"/>
            <a:ext cx="6886575" cy="1173004"/>
            <a:chOff x="0" y="66675"/>
            <a:chExt cx="9182100" cy="1564005"/>
          </a:xfrm>
        </p:grpSpPr>
        <p:sp>
          <p:nvSpPr>
            <p:cNvPr id="123" name="Google Shape;123;p3"/>
            <p:cNvSpPr txBox="1"/>
            <p:nvPr/>
          </p:nvSpPr>
          <p:spPr>
            <a:xfrm>
              <a:off x="0" y="66675"/>
              <a:ext cx="91821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Open ReportAm</a:t>
              </a:r>
              <a:endParaRPr b="0" i="0" sz="1400" u="none" cap="none" strike="noStrike">
                <a:solidFill>
                  <a:srgbClr val="000000"/>
                </a:solidFill>
                <a:latin typeface="Arial"/>
                <a:ea typeface="Arial"/>
                <a:cs typeface="Arial"/>
                <a:sym typeface="Arial"/>
              </a:endParaRPr>
            </a:p>
          </p:txBody>
        </p:sp>
        <p:sp>
          <p:nvSpPr>
            <p:cNvPr id="124" name="Google Shape;124;p3"/>
            <p:cNvSpPr txBox="1"/>
            <p:nvPr/>
          </p:nvSpPr>
          <p:spPr>
            <a:xfrm>
              <a:off x="22260" y="1158875"/>
              <a:ext cx="9159840" cy="4718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Users start by launching the ReportAm app.</a:t>
              </a:r>
              <a:endParaRPr b="0" i="0" sz="1400" u="none" cap="none" strike="noStrike">
                <a:solidFill>
                  <a:srgbClr val="000000"/>
                </a:solidFill>
                <a:latin typeface="Arial"/>
                <a:ea typeface="Arial"/>
                <a:cs typeface="Arial"/>
                <a:sym typeface="Arial"/>
              </a:endParaRPr>
            </a:p>
          </p:txBody>
        </p:sp>
        <p:cxnSp>
          <p:nvCxnSpPr>
            <p:cNvPr id="125" name="Google Shape;125;p3"/>
            <p:cNvCxnSpPr/>
            <p:nvPr/>
          </p:nvCxnSpPr>
          <p:spPr>
            <a:xfrm>
              <a:off x="22260" y="895350"/>
              <a:ext cx="9159840" cy="0"/>
            </a:xfrm>
            <a:prstGeom prst="straightConnector1">
              <a:avLst/>
            </a:prstGeom>
            <a:noFill/>
            <a:ln cap="flat" cmpd="sng" w="25400">
              <a:solidFill>
                <a:srgbClr val="000000"/>
              </a:solidFill>
              <a:prstDash val="solid"/>
              <a:round/>
              <a:headEnd len="sm" w="sm" type="none"/>
              <a:tailEnd len="sm" w="sm" type="none"/>
            </a:ln>
          </p:spPr>
        </p:cxnSp>
      </p:grpSp>
      <p:grpSp>
        <p:nvGrpSpPr>
          <p:cNvPr id="126" name="Google Shape;126;p3"/>
          <p:cNvGrpSpPr/>
          <p:nvPr/>
        </p:nvGrpSpPr>
        <p:grpSpPr>
          <a:xfrm>
            <a:off x="666750" y="6984206"/>
            <a:ext cx="6886575" cy="1173004"/>
            <a:chOff x="0" y="66675"/>
            <a:chExt cx="9182100" cy="1564005"/>
          </a:xfrm>
        </p:grpSpPr>
        <p:sp>
          <p:nvSpPr>
            <p:cNvPr id="127" name="Google Shape;127;p3"/>
            <p:cNvSpPr txBox="1"/>
            <p:nvPr/>
          </p:nvSpPr>
          <p:spPr>
            <a:xfrm>
              <a:off x="0" y="66675"/>
              <a:ext cx="91821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Upload Photo</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22260" y="1158875"/>
              <a:ext cx="9159840" cy="4718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Users can easily upload a relevant photo here.</a:t>
              </a:r>
              <a:endParaRPr b="0" i="0" sz="1400" u="none" cap="none" strike="noStrike">
                <a:solidFill>
                  <a:srgbClr val="000000"/>
                </a:solidFill>
                <a:latin typeface="Arial"/>
                <a:ea typeface="Arial"/>
                <a:cs typeface="Arial"/>
                <a:sym typeface="Arial"/>
              </a:endParaRPr>
            </a:p>
          </p:txBody>
        </p:sp>
        <p:cxnSp>
          <p:nvCxnSpPr>
            <p:cNvPr id="129" name="Google Shape;129;p3"/>
            <p:cNvCxnSpPr/>
            <p:nvPr/>
          </p:nvCxnSpPr>
          <p:spPr>
            <a:xfrm>
              <a:off x="22260" y="895350"/>
              <a:ext cx="9159840" cy="0"/>
            </a:xfrm>
            <a:prstGeom prst="straightConnector1">
              <a:avLst/>
            </a:prstGeom>
            <a:noFill/>
            <a:ln cap="flat" cmpd="sng" w="25400">
              <a:solidFill>
                <a:srgbClr val="000000"/>
              </a:solidFill>
              <a:prstDash val="solid"/>
              <a:round/>
              <a:headEnd len="sm" w="sm" type="none"/>
              <a:tailEnd len="sm" w="sm" type="none"/>
            </a:ln>
          </p:spPr>
        </p:cxnSp>
      </p:grpSp>
      <p:grpSp>
        <p:nvGrpSpPr>
          <p:cNvPr id="130" name="Google Shape;130;p3"/>
          <p:cNvGrpSpPr/>
          <p:nvPr/>
        </p:nvGrpSpPr>
        <p:grpSpPr>
          <a:xfrm>
            <a:off x="9296400" y="4298156"/>
            <a:ext cx="6886575" cy="1173004"/>
            <a:chOff x="0" y="66675"/>
            <a:chExt cx="9182100" cy="1564005"/>
          </a:xfrm>
        </p:grpSpPr>
        <p:sp>
          <p:nvSpPr>
            <p:cNvPr id="131" name="Google Shape;131;p3"/>
            <p:cNvSpPr txBox="1"/>
            <p:nvPr/>
          </p:nvSpPr>
          <p:spPr>
            <a:xfrm>
              <a:off x="0" y="66675"/>
              <a:ext cx="91821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Click Report</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22260" y="1158875"/>
              <a:ext cx="9159840" cy="4718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They select either Issue or Emergency to proceed.</a:t>
              </a:r>
              <a:endParaRPr b="0" i="0" sz="1400" u="none" cap="none" strike="noStrike">
                <a:solidFill>
                  <a:srgbClr val="000000"/>
                </a:solidFill>
                <a:latin typeface="Arial"/>
                <a:ea typeface="Arial"/>
                <a:cs typeface="Arial"/>
                <a:sym typeface="Arial"/>
              </a:endParaRPr>
            </a:p>
          </p:txBody>
        </p:sp>
        <p:cxnSp>
          <p:nvCxnSpPr>
            <p:cNvPr id="133" name="Google Shape;133;p3"/>
            <p:cNvCxnSpPr/>
            <p:nvPr/>
          </p:nvCxnSpPr>
          <p:spPr>
            <a:xfrm>
              <a:off x="22260" y="895350"/>
              <a:ext cx="9159840" cy="0"/>
            </a:xfrm>
            <a:prstGeom prst="straightConnector1">
              <a:avLst/>
            </a:prstGeom>
            <a:noFill/>
            <a:ln cap="flat" cmpd="sng" w="25400">
              <a:solidFill>
                <a:srgbClr val="000000"/>
              </a:solidFill>
              <a:prstDash val="solid"/>
              <a:round/>
              <a:headEnd len="sm" w="sm" type="none"/>
              <a:tailEnd len="sm" w="sm" type="none"/>
            </a:ln>
          </p:spPr>
        </p:cxnSp>
      </p:grpSp>
      <p:grpSp>
        <p:nvGrpSpPr>
          <p:cNvPr id="134" name="Google Shape;134;p3"/>
          <p:cNvGrpSpPr/>
          <p:nvPr/>
        </p:nvGrpSpPr>
        <p:grpSpPr>
          <a:xfrm>
            <a:off x="9296400" y="6984206"/>
            <a:ext cx="6886575" cy="1173004"/>
            <a:chOff x="0" y="66675"/>
            <a:chExt cx="9182100" cy="1564005"/>
          </a:xfrm>
        </p:grpSpPr>
        <p:sp>
          <p:nvSpPr>
            <p:cNvPr id="135" name="Google Shape;135;p3"/>
            <p:cNvSpPr txBox="1"/>
            <p:nvPr/>
          </p:nvSpPr>
          <p:spPr>
            <a:xfrm>
              <a:off x="0" y="66675"/>
              <a:ext cx="91821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Location Captured</a:t>
              </a:r>
              <a:endParaRPr b="0" i="0" sz="1400" u="none" cap="none" strike="noStrike">
                <a:solidFill>
                  <a:srgbClr val="000000"/>
                </a:solidFill>
                <a:latin typeface="Arial"/>
                <a:ea typeface="Arial"/>
                <a:cs typeface="Arial"/>
                <a:sym typeface="Arial"/>
              </a:endParaRPr>
            </a:p>
          </p:txBody>
        </p:sp>
        <p:sp>
          <p:nvSpPr>
            <p:cNvPr id="136" name="Google Shape;136;p3"/>
            <p:cNvSpPr txBox="1"/>
            <p:nvPr/>
          </p:nvSpPr>
          <p:spPr>
            <a:xfrm>
              <a:off x="22260" y="1158875"/>
              <a:ext cx="9159840" cy="4718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The app automatically captures the user's location.</a:t>
              </a:r>
              <a:endParaRPr b="0" i="0" sz="1400" u="none" cap="none" strike="noStrike">
                <a:solidFill>
                  <a:srgbClr val="000000"/>
                </a:solidFill>
                <a:latin typeface="Arial"/>
                <a:ea typeface="Arial"/>
                <a:cs typeface="Arial"/>
                <a:sym typeface="Arial"/>
              </a:endParaRPr>
            </a:p>
          </p:txBody>
        </p:sp>
        <p:cxnSp>
          <p:nvCxnSpPr>
            <p:cNvPr id="137" name="Google Shape;137;p3"/>
            <p:cNvCxnSpPr/>
            <p:nvPr/>
          </p:nvCxnSpPr>
          <p:spPr>
            <a:xfrm>
              <a:off x="22260" y="895350"/>
              <a:ext cx="9159840" cy="0"/>
            </a:xfrm>
            <a:prstGeom prst="straightConnector1">
              <a:avLst/>
            </a:prstGeom>
            <a:noFill/>
            <a:ln cap="flat" cmpd="sng" w="25400">
              <a:solidFill>
                <a:srgbClr val="000000"/>
              </a:solidFill>
              <a:prstDash val="solid"/>
              <a:round/>
              <a:headEnd len="sm" w="sm" type="none"/>
              <a:tailEnd len="sm" w="sm" type="none"/>
            </a:ln>
          </p:spPr>
        </p:cxnSp>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
          <p:cNvSpPr txBox="1"/>
          <p:nvPr/>
        </p:nvSpPr>
        <p:spPr>
          <a:xfrm>
            <a:off x="666750" y="857250"/>
            <a:ext cx="16954500" cy="1539000"/>
          </a:xfrm>
          <a:prstGeom prst="rect">
            <a:avLst/>
          </a:prstGeom>
          <a:solidFill>
            <a:srgbClr val="047857"/>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999"/>
              <a:buFont typeface="Arial"/>
              <a:buNone/>
            </a:pPr>
            <a:r>
              <a:rPr b="0" i="0" lang="en-US" sz="9999" u="none" cap="none" strike="noStrike">
                <a:solidFill>
                  <a:schemeClr val="lt1"/>
                </a:solidFill>
                <a:latin typeface="Arial"/>
                <a:ea typeface="Arial"/>
                <a:cs typeface="Arial"/>
                <a:sym typeface="Arial"/>
              </a:rPr>
              <a:t>Core User Flow Continued</a:t>
            </a:r>
            <a:endParaRPr b="0" i="0" sz="1400" u="none" cap="none" strike="noStrike">
              <a:solidFill>
                <a:schemeClr val="lt1"/>
              </a:solidFill>
              <a:latin typeface="Arial"/>
              <a:ea typeface="Arial"/>
              <a:cs typeface="Arial"/>
              <a:sym typeface="Arial"/>
            </a:endParaRPr>
          </a:p>
        </p:txBody>
      </p:sp>
      <p:grpSp>
        <p:nvGrpSpPr>
          <p:cNvPr id="143" name="Google Shape;143;p4"/>
          <p:cNvGrpSpPr/>
          <p:nvPr/>
        </p:nvGrpSpPr>
        <p:grpSpPr>
          <a:xfrm>
            <a:off x="666750" y="4298156"/>
            <a:ext cx="4010025" cy="1544479"/>
            <a:chOff x="0" y="66675"/>
            <a:chExt cx="5346700" cy="2059305"/>
          </a:xfrm>
        </p:grpSpPr>
        <p:sp>
          <p:nvSpPr>
            <p:cNvPr id="144" name="Google Shape;144;p4"/>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Select Category</a:t>
              </a:r>
              <a:endParaRPr b="0" i="0" sz="1400" u="none" cap="none" strike="noStrike">
                <a:solidFill>
                  <a:srgbClr val="000000"/>
                </a:solidFill>
                <a:latin typeface="Arial"/>
                <a:ea typeface="Arial"/>
                <a:cs typeface="Arial"/>
                <a:sym typeface="Arial"/>
              </a:endParaRPr>
            </a:p>
          </p:txBody>
        </p:sp>
        <p:sp>
          <p:nvSpPr>
            <p:cNvPr id="145" name="Google Shape;145;p4"/>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Users choose specific issue type for reporting.</a:t>
              </a:r>
              <a:endParaRPr b="0" i="0" sz="1400" u="none" cap="none" strike="noStrike">
                <a:solidFill>
                  <a:srgbClr val="000000"/>
                </a:solidFill>
                <a:latin typeface="Arial"/>
                <a:ea typeface="Arial"/>
                <a:cs typeface="Arial"/>
                <a:sym typeface="Arial"/>
              </a:endParaRPr>
            </a:p>
          </p:txBody>
        </p:sp>
        <p:cxnSp>
          <p:nvCxnSpPr>
            <p:cNvPr id="146" name="Google Shape;146;p4"/>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grpSp>
        <p:nvGrpSpPr>
          <p:cNvPr id="147" name="Google Shape;147;p4"/>
          <p:cNvGrpSpPr/>
          <p:nvPr/>
        </p:nvGrpSpPr>
        <p:grpSpPr>
          <a:xfrm>
            <a:off x="6419850" y="4298156"/>
            <a:ext cx="4010025" cy="1544479"/>
            <a:chOff x="0" y="66675"/>
            <a:chExt cx="5346700" cy="2059305"/>
          </a:xfrm>
        </p:grpSpPr>
        <p:sp>
          <p:nvSpPr>
            <p:cNvPr id="148" name="Google Shape;148;p4"/>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Explain Briefly</a:t>
              </a:r>
              <a:endParaRPr b="0" i="0" sz="1400" u="none" cap="none" strike="noStrike">
                <a:solidFill>
                  <a:srgbClr val="000000"/>
                </a:solidFill>
                <a:latin typeface="Arial"/>
                <a:ea typeface="Arial"/>
                <a:cs typeface="Arial"/>
                <a:sym typeface="Arial"/>
              </a:endParaRPr>
            </a:p>
          </p:txBody>
        </p:sp>
        <p:sp>
          <p:nvSpPr>
            <p:cNvPr id="149" name="Google Shape;149;p4"/>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A short description of the problem is added.</a:t>
              </a:r>
              <a:endParaRPr b="0" i="0" sz="1400" u="none" cap="none" strike="noStrike">
                <a:solidFill>
                  <a:srgbClr val="000000"/>
                </a:solidFill>
                <a:latin typeface="Arial"/>
                <a:ea typeface="Arial"/>
                <a:cs typeface="Arial"/>
                <a:sym typeface="Arial"/>
              </a:endParaRPr>
            </a:p>
          </p:txBody>
        </p:sp>
        <p:cxnSp>
          <p:nvCxnSpPr>
            <p:cNvPr id="150" name="Google Shape;150;p4"/>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grpSp>
        <p:nvGrpSpPr>
          <p:cNvPr id="151" name="Google Shape;151;p4"/>
          <p:cNvGrpSpPr/>
          <p:nvPr/>
        </p:nvGrpSpPr>
        <p:grpSpPr>
          <a:xfrm>
            <a:off x="12172950" y="4298156"/>
            <a:ext cx="4010025" cy="1544479"/>
            <a:chOff x="0" y="66675"/>
            <a:chExt cx="5346700" cy="2059305"/>
          </a:xfrm>
        </p:grpSpPr>
        <p:sp>
          <p:nvSpPr>
            <p:cNvPr id="152" name="Google Shape;152;p4"/>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Submit</a:t>
              </a:r>
              <a:endParaRPr b="0" i="0" sz="1400" u="none" cap="none" strike="noStrike">
                <a:solidFill>
                  <a:srgbClr val="000000"/>
                </a:solidFill>
                <a:latin typeface="Arial"/>
                <a:ea typeface="Arial"/>
                <a:cs typeface="Arial"/>
                <a:sym typeface="Arial"/>
              </a:endParaRPr>
            </a:p>
          </p:txBody>
        </p:sp>
        <p:sp>
          <p:nvSpPr>
            <p:cNvPr id="153" name="Google Shape;153;p4"/>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Finalize the report for community visibility.</a:t>
              </a:r>
              <a:endParaRPr b="0" i="0" sz="1400" u="none" cap="none" strike="noStrike">
                <a:solidFill>
                  <a:srgbClr val="000000"/>
                </a:solidFill>
                <a:latin typeface="Arial"/>
                <a:ea typeface="Arial"/>
                <a:cs typeface="Arial"/>
                <a:sym typeface="Arial"/>
              </a:endParaRPr>
            </a:p>
          </p:txBody>
        </p:sp>
        <p:cxnSp>
          <p:nvCxnSpPr>
            <p:cNvPr id="154" name="Google Shape;154;p4"/>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grpSp>
        <p:nvGrpSpPr>
          <p:cNvPr id="155" name="Google Shape;155;p4"/>
          <p:cNvGrpSpPr/>
          <p:nvPr/>
        </p:nvGrpSpPr>
        <p:grpSpPr>
          <a:xfrm>
            <a:off x="666750" y="6984206"/>
            <a:ext cx="4010025" cy="1544479"/>
            <a:chOff x="0" y="66675"/>
            <a:chExt cx="5346700" cy="2059305"/>
          </a:xfrm>
        </p:grpSpPr>
        <p:sp>
          <p:nvSpPr>
            <p:cNvPr id="156" name="Google Shape;156;p4"/>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Report Appears</a:t>
              </a:r>
              <a:endParaRPr b="0" i="0" sz="1400" u="none" cap="none" strike="noStrike">
                <a:solidFill>
                  <a:srgbClr val="000000"/>
                </a:solidFill>
                <a:latin typeface="Arial"/>
                <a:ea typeface="Arial"/>
                <a:cs typeface="Arial"/>
                <a:sym typeface="Arial"/>
              </a:endParaRPr>
            </a:p>
          </p:txBody>
        </p:sp>
        <p:sp>
          <p:nvSpPr>
            <p:cNvPr id="157" name="Google Shape;157;p4"/>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The issue is visible on the public feed.</a:t>
              </a:r>
              <a:endParaRPr b="0" i="0" sz="1400" u="none" cap="none" strike="noStrike">
                <a:solidFill>
                  <a:srgbClr val="000000"/>
                </a:solidFill>
                <a:latin typeface="Arial"/>
                <a:ea typeface="Arial"/>
                <a:cs typeface="Arial"/>
                <a:sym typeface="Arial"/>
              </a:endParaRPr>
            </a:p>
          </p:txBody>
        </p:sp>
        <p:cxnSp>
          <p:nvCxnSpPr>
            <p:cNvPr id="158" name="Google Shape;158;p4"/>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grpSp>
        <p:nvGrpSpPr>
          <p:cNvPr id="159" name="Google Shape;159;p4"/>
          <p:cNvGrpSpPr/>
          <p:nvPr/>
        </p:nvGrpSpPr>
        <p:grpSpPr>
          <a:xfrm>
            <a:off x="6419850" y="6984206"/>
            <a:ext cx="4010025" cy="1915954"/>
            <a:chOff x="0" y="66675"/>
            <a:chExt cx="5346700" cy="2554605"/>
          </a:xfrm>
        </p:grpSpPr>
        <p:sp>
          <p:nvSpPr>
            <p:cNvPr id="160" name="Google Shape;160;p4"/>
            <p:cNvSpPr txBox="1"/>
            <p:nvPr/>
          </p:nvSpPr>
          <p:spPr>
            <a:xfrm>
              <a:off x="0" y="66675"/>
              <a:ext cx="5346700" cy="10255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Community Engagement</a:t>
              </a:r>
              <a:endParaRPr b="0" i="0" sz="1400" u="none" cap="none" strike="noStrike">
                <a:solidFill>
                  <a:srgbClr val="000000"/>
                </a:solidFill>
                <a:latin typeface="Arial"/>
                <a:ea typeface="Arial"/>
                <a:cs typeface="Arial"/>
                <a:sym typeface="Arial"/>
              </a:endParaRPr>
            </a:p>
          </p:txBody>
        </p:sp>
        <p:sp>
          <p:nvSpPr>
            <p:cNvPr id="161" name="Google Shape;161;p4"/>
            <p:cNvSpPr txBox="1"/>
            <p:nvPr/>
          </p:nvSpPr>
          <p:spPr>
            <a:xfrm>
              <a:off x="12962" y="16541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Residents can engage and track the reports.</a:t>
              </a:r>
              <a:endParaRPr b="0" i="0" sz="1400" u="none" cap="none" strike="noStrike">
                <a:solidFill>
                  <a:srgbClr val="000000"/>
                </a:solidFill>
                <a:latin typeface="Arial"/>
                <a:ea typeface="Arial"/>
                <a:cs typeface="Arial"/>
                <a:sym typeface="Arial"/>
              </a:endParaRPr>
            </a:p>
          </p:txBody>
        </p:sp>
        <p:cxnSp>
          <p:nvCxnSpPr>
            <p:cNvPr id="162" name="Google Shape;162;p4"/>
            <p:cNvCxnSpPr/>
            <p:nvPr/>
          </p:nvCxnSpPr>
          <p:spPr>
            <a:xfrm>
              <a:off x="12962" y="1390650"/>
              <a:ext cx="5333738" cy="0"/>
            </a:xfrm>
            <a:prstGeom prst="straightConnector1">
              <a:avLst/>
            </a:prstGeom>
            <a:noFill/>
            <a:ln cap="flat" cmpd="sng" w="25400">
              <a:solidFill>
                <a:srgbClr val="000000"/>
              </a:solidFill>
              <a:prstDash val="solid"/>
              <a:round/>
              <a:headEnd len="sm" w="sm" type="none"/>
              <a:tailEnd len="sm" w="sm" type="none"/>
            </a:ln>
          </p:spPr>
        </p:cxnSp>
      </p:gr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7857"/>
        </a:solidFill>
      </p:bgPr>
    </p:bg>
    <p:spTree>
      <p:nvGrpSpPr>
        <p:cNvPr id="166" name="Shape 166"/>
        <p:cNvGrpSpPr/>
        <p:nvPr/>
      </p:nvGrpSpPr>
      <p:grpSpPr>
        <a:xfrm>
          <a:off x="0" y="0"/>
          <a:ext cx="0" cy="0"/>
          <a:chOff x="0" y="0"/>
          <a:chExt cx="0" cy="0"/>
        </a:xfrm>
      </p:grpSpPr>
      <p:grpSp>
        <p:nvGrpSpPr>
          <p:cNvPr id="167" name="Google Shape;167;p5"/>
          <p:cNvGrpSpPr/>
          <p:nvPr/>
        </p:nvGrpSpPr>
        <p:grpSpPr>
          <a:xfrm>
            <a:off x="666750" y="809625"/>
            <a:ext cx="14077950" cy="2069465"/>
            <a:chOff x="0" y="190500"/>
            <a:chExt cx="18770600" cy="2759287"/>
          </a:xfrm>
        </p:grpSpPr>
        <p:sp>
          <p:nvSpPr>
            <p:cNvPr id="168" name="Google Shape;168;p5"/>
            <p:cNvSpPr txBox="1"/>
            <p:nvPr/>
          </p:nvSpPr>
          <p:spPr>
            <a:xfrm>
              <a:off x="0" y="190500"/>
              <a:ext cx="18770600" cy="183726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999"/>
                <a:buFont typeface="Arial"/>
                <a:buNone/>
              </a:pPr>
              <a:r>
                <a:rPr b="0" i="0" lang="en-US" sz="9999" u="none" cap="none" strike="noStrike">
                  <a:solidFill>
                    <a:srgbClr val="FFFFFF"/>
                  </a:solidFill>
                  <a:latin typeface="Arial"/>
                  <a:ea typeface="Arial"/>
                  <a:cs typeface="Arial"/>
                  <a:sym typeface="Arial"/>
                </a:rPr>
                <a:t>Report Tracking</a:t>
              </a:r>
              <a:endParaRPr b="0" i="0" sz="1400" u="none" cap="none" strike="noStrike">
                <a:solidFill>
                  <a:srgbClr val="000000"/>
                </a:solidFill>
                <a:latin typeface="Arial"/>
                <a:ea typeface="Arial"/>
                <a:cs typeface="Arial"/>
                <a:sym typeface="Arial"/>
              </a:endParaRPr>
            </a:p>
          </p:txBody>
        </p:sp>
        <p:sp>
          <p:nvSpPr>
            <p:cNvPr id="169" name="Google Shape;169;p5"/>
            <p:cNvSpPr txBox="1"/>
            <p:nvPr/>
          </p:nvSpPr>
          <p:spPr>
            <a:xfrm>
              <a:off x="0" y="2349500"/>
              <a:ext cx="18770600" cy="600287"/>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2799"/>
                <a:buFont typeface="Arial"/>
                <a:buNone/>
              </a:pPr>
              <a:r>
                <a:rPr b="0" i="0" lang="en-US" sz="2799" u="none" cap="none" strike="noStrike">
                  <a:solidFill>
                    <a:srgbClr val="FFFFFF"/>
                  </a:solidFill>
                  <a:latin typeface="Inter"/>
                  <a:ea typeface="Inter"/>
                  <a:cs typeface="Inter"/>
                  <a:sym typeface="Inter"/>
                </a:rPr>
                <a:t>EFFICIENT MANAGEMENT OF COMMUNITY ISSUES</a:t>
              </a:r>
              <a:endParaRPr b="0" i="0" sz="1400" u="none" cap="none" strike="noStrike">
                <a:solidFill>
                  <a:srgbClr val="000000"/>
                </a:solidFill>
                <a:latin typeface="Arial"/>
                <a:ea typeface="Arial"/>
                <a:cs typeface="Arial"/>
                <a:sym typeface="Arial"/>
              </a:endParaRPr>
            </a:p>
          </p:txBody>
        </p:sp>
      </p:grpSp>
      <p:sp>
        <p:nvSpPr>
          <p:cNvPr id="170" name="Google Shape;170;p5"/>
          <p:cNvSpPr txBox="1"/>
          <p:nvPr/>
        </p:nvSpPr>
        <p:spPr>
          <a:xfrm>
            <a:off x="676472" y="4274382"/>
            <a:ext cx="4010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FFFFFF"/>
                </a:solidFill>
                <a:latin typeface="Arial"/>
                <a:ea typeface="Arial"/>
                <a:cs typeface="Arial"/>
                <a:sym typeface="Arial"/>
              </a:rPr>
              <a:t>Admin Control</a:t>
            </a:r>
            <a:endParaRPr b="0" i="0" sz="1400" u="none" cap="none" strike="noStrike">
              <a:solidFill>
                <a:srgbClr val="000000"/>
              </a:solidFill>
              <a:latin typeface="Arial"/>
              <a:ea typeface="Arial"/>
              <a:cs typeface="Arial"/>
              <a:sym typeface="Arial"/>
            </a:endParaRPr>
          </a:p>
        </p:txBody>
      </p:sp>
      <p:sp>
        <p:nvSpPr>
          <p:cNvPr id="171" name="Google Shape;171;p5"/>
          <p:cNvSpPr txBox="1"/>
          <p:nvPr/>
        </p:nvSpPr>
        <p:spPr>
          <a:xfrm>
            <a:off x="676472" y="5704434"/>
            <a:ext cx="4000200" cy="2586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Inter"/>
                <a:ea typeface="Inter"/>
                <a:cs typeface="Inter"/>
                <a:sym typeface="Inter"/>
              </a:rPr>
              <a:t>Admins have the ability to </a:t>
            </a:r>
            <a:r>
              <a:rPr b="1" i="0" lang="en-US" sz="2100" u="none" cap="none" strike="noStrike">
                <a:solidFill>
                  <a:srgbClr val="FFFFFF"/>
                </a:solidFill>
                <a:latin typeface="Inter"/>
                <a:ea typeface="Inter"/>
                <a:cs typeface="Inter"/>
                <a:sym typeface="Inter"/>
              </a:rPr>
              <a:t>mark reports</a:t>
            </a:r>
            <a:r>
              <a:rPr b="0" i="0" lang="en-US" sz="2100" u="none" cap="none" strike="noStrike">
                <a:solidFill>
                  <a:srgbClr val="FFFFFF"/>
                </a:solidFill>
                <a:latin typeface="Inter"/>
                <a:ea typeface="Inter"/>
                <a:cs typeface="Inter"/>
                <a:sym typeface="Inter"/>
              </a:rPr>
              <a:t> as pending or resolved, ensuring that community members are informed of the current status of issues and actions taken.</a:t>
            </a:r>
            <a:endParaRPr b="0" i="0" sz="1400" u="none" cap="none" strike="noStrike">
              <a:solidFill>
                <a:srgbClr val="000000"/>
              </a:solidFill>
              <a:latin typeface="Arial"/>
              <a:ea typeface="Arial"/>
              <a:cs typeface="Arial"/>
              <a:sym typeface="Arial"/>
            </a:endParaRPr>
          </a:p>
        </p:txBody>
      </p:sp>
      <p:cxnSp>
        <p:nvCxnSpPr>
          <p:cNvPr id="172" name="Google Shape;172;p5"/>
          <p:cNvCxnSpPr/>
          <p:nvPr/>
        </p:nvCxnSpPr>
        <p:spPr>
          <a:xfrm>
            <a:off x="666750" y="5352569"/>
            <a:ext cx="4000200" cy="0"/>
          </a:xfrm>
          <a:prstGeom prst="straightConnector1">
            <a:avLst/>
          </a:prstGeom>
          <a:noFill/>
          <a:ln cap="flat" cmpd="sng" w="19050">
            <a:solidFill>
              <a:srgbClr val="FFFFFF"/>
            </a:solidFill>
            <a:prstDash val="solid"/>
            <a:round/>
            <a:headEnd len="sm" w="sm" type="none"/>
            <a:tailEnd len="sm" w="sm" type="none"/>
          </a:ln>
        </p:spPr>
      </p:cxnSp>
      <p:sp>
        <p:nvSpPr>
          <p:cNvPr id="173" name="Google Shape;173;p5"/>
          <p:cNvSpPr txBox="1"/>
          <p:nvPr/>
        </p:nvSpPr>
        <p:spPr>
          <a:xfrm>
            <a:off x="6429575" y="3644900"/>
            <a:ext cx="4010100" cy="9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FFFFFF"/>
                </a:solidFill>
                <a:latin typeface="Arial"/>
                <a:ea typeface="Arial"/>
                <a:cs typeface="Arial"/>
                <a:sym typeface="Arial"/>
              </a:rPr>
              <a:t>Community Engagement</a:t>
            </a:r>
            <a:endParaRPr b="0" i="0" sz="1400" u="none" cap="none" strike="noStrike">
              <a:solidFill>
                <a:srgbClr val="000000"/>
              </a:solidFill>
              <a:latin typeface="Arial"/>
              <a:ea typeface="Arial"/>
              <a:cs typeface="Arial"/>
              <a:sym typeface="Arial"/>
            </a:endParaRPr>
          </a:p>
        </p:txBody>
      </p:sp>
      <p:sp>
        <p:nvSpPr>
          <p:cNvPr id="174" name="Google Shape;174;p5"/>
          <p:cNvSpPr txBox="1"/>
          <p:nvPr/>
        </p:nvSpPr>
        <p:spPr>
          <a:xfrm>
            <a:off x="6429575" y="5704434"/>
            <a:ext cx="4000200" cy="3038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Inter"/>
                <a:ea typeface="Inter"/>
                <a:cs typeface="Inter"/>
                <a:sym typeface="Inter"/>
              </a:rPr>
              <a:t>Users can express their </a:t>
            </a:r>
            <a:r>
              <a:rPr b="1" i="0" lang="en-US" sz="2100" u="none" cap="none" strike="noStrike">
                <a:solidFill>
                  <a:srgbClr val="FFFFFF"/>
                </a:solidFill>
                <a:latin typeface="Inter"/>
                <a:ea typeface="Inter"/>
                <a:cs typeface="Inter"/>
                <a:sym typeface="Inter"/>
              </a:rPr>
              <a:t>concerns</a:t>
            </a:r>
            <a:r>
              <a:rPr b="0" i="0" lang="en-US" sz="2100" u="none" cap="none" strike="noStrike">
                <a:solidFill>
                  <a:srgbClr val="FFFFFF"/>
                </a:solidFill>
                <a:latin typeface="Inter"/>
                <a:ea typeface="Inter"/>
                <a:cs typeface="Inter"/>
                <a:sym typeface="Inter"/>
              </a:rPr>
              <a:t> by tapping 'I’m affected,' fostering a sense of community and encouraging collective action towards resolving the reported problems in Oyo.</a:t>
            </a:r>
            <a:endParaRPr b="0" i="0" sz="1400" u="none" cap="none" strike="noStrike">
              <a:solidFill>
                <a:srgbClr val="000000"/>
              </a:solidFill>
              <a:latin typeface="Arial"/>
              <a:ea typeface="Arial"/>
              <a:cs typeface="Arial"/>
              <a:sym typeface="Arial"/>
            </a:endParaRPr>
          </a:p>
        </p:txBody>
      </p:sp>
      <p:cxnSp>
        <p:nvCxnSpPr>
          <p:cNvPr id="175" name="Google Shape;175;p5"/>
          <p:cNvCxnSpPr/>
          <p:nvPr/>
        </p:nvCxnSpPr>
        <p:spPr>
          <a:xfrm>
            <a:off x="6419853" y="5352569"/>
            <a:ext cx="4000200" cy="0"/>
          </a:xfrm>
          <a:prstGeom prst="straightConnector1">
            <a:avLst/>
          </a:prstGeom>
          <a:noFill/>
          <a:ln cap="flat" cmpd="sng" w="19050">
            <a:solidFill>
              <a:srgbClr val="FFFFFF"/>
            </a:solidFill>
            <a:prstDash val="solid"/>
            <a:round/>
            <a:headEnd len="sm" w="sm" type="none"/>
            <a:tailEnd len="sm" w="sm" type="none"/>
          </a:ln>
        </p:spPr>
      </p:cxnSp>
      <p:sp>
        <p:nvSpPr>
          <p:cNvPr id="176" name="Google Shape;176;p5"/>
          <p:cNvSpPr txBox="1"/>
          <p:nvPr/>
        </p:nvSpPr>
        <p:spPr>
          <a:xfrm>
            <a:off x="12182875" y="4274449"/>
            <a:ext cx="4010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FFFFFF"/>
                </a:solidFill>
                <a:latin typeface="Arial"/>
                <a:ea typeface="Arial"/>
                <a:cs typeface="Arial"/>
                <a:sym typeface="Arial"/>
              </a:rPr>
              <a:t>Transparency</a:t>
            </a:r>
            <a:endParaRPr b="0" i="0" sz="1400" u="none" cap="none" strike="noStrike">
              <a:solidFill>
                <a:srgbClr val="000000"/>
              </a:solidFill>
              <a:latin typeface="Arial"/>
              <a:ea typeface="Arial"/>
              <a:cs typeface="Arial"/>
              <a:sym typeface="Arial"/>
            </a:endParaRPr>
          </a:p>
        </p:txBody>
      </p:sp>
      <p:sp>
        <p:nvSpPr>
          <p:cNvPr id="177" name="Google Shape;177;p5"/>
          <p:cNvSpPr txBox="1"/>
          <p:nvPr/>
        </p:nvSpPr>
        <p:spPr>
          <a:xfrm>
            <a:off x="12182875" y="5704501"/>
            <a:ext cx="4000200" cy="3038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Inter"/>
                <a:ea typeface="Inter"/>
                <a:cs typeface="Inter"/>
                <a:sym typeface="Inter"/>
              </a:rPr>
              <a:t>By displaying all reports publicly, the platform ensures that everyone can </a:t>
            </a:r>
            <a:r>
              <a:rPr b="1" i="0" lang="en-US" sz="2100" u="none" cap="none" strike="noStrike">
                <a:solidFill>
                  <a:srgbClr val="FFFFFF"/>
                </a:solidFill>
                <a:latin typeface="Inter"/>
                <a:ea typeface="Inter"/>
                <a:cs typeface="Inter"/>
                <a:sym typeface="Inter"/>
              </a:rPr>
              <a:t>see and track</a:t>
            </a:r>
            <a:r>
              <a:rPr b="0" i="0" lang="en-US" sz="2100" u="none" cap="none" strike="noStrike">
                <a:solidFill>
                  <a:srgbClr val="FFFFFF"/>
                </a:solidFill>
                <a:latin typeface="Inter"/>
                <a:ea typeface="Inter"/>
                <a:cs typeface="Inter"/>
                <a:sym typeface="Inter"/>
              </a:rPr>
              <a:t> ongoing issues, promoting accountability and collaboration among residents and local authorities.</a:t>
            </a:r>
            <a:endParaRPr b="0" i="0" sz="1400" u="none" cap="none" strike="noStrike">
              <a:solidFill>
                <a:srgbClr val="000000"/>
              </a:solidFill>
              <a:latin typeface="Arial"/>
              <a:ea typeface="Arial"/>
              <a:cs typeface="Arial"/>
              <a:sym typeface="Arial"/>
            </a:endParaRPr>
          </a:p>
        </p:txBody>
      </p:sp>
      <p:cxnSp>
        <p:nvCxnSpPr>
          <p:cNvPr id="178" name="Google Shape;178;p5"/>
          <p:cNvCxnSpPr/>
          <p:nvPr/>
        </p:nvCxnSpPr>
        <p:spPr>
          <a:xfrm>
            <a:off x="12173154" y="5352637"/>
            <a:ext cx="4000200" cy="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6"/>
          <p:cNvSpPr txBox="1"/>
          <p:nvPr/>
        </p:nvSpPr>
        <p:spPr>
          <a:xfrm>
            <a:off x="666750" y="857250"/>
            <a:ext cx="16954500" cy="1539000"/>
          </a:xfrm>
          <a:prstGeom prst="rect">
            <a:avLst/>
          </a:prstGeom>
          <a:solidFill>
            <a:srgbClr val="047857"/>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999"/>
              <a:buFont typeface="Arial"/>
              <a:buNone/>
            </a:pPr>
            <a:r>
              <a:rPr lang="en-US" sz="9999">
                <a:solidFill>
                  <a:schemeClr val="lt1"/>
                </a:solidFill>
              </a:rPr>
              <a:t> </a:t>
            </a:r>
            <a:r>
              <a:rPr b="0" i="0" lang="en-US" sz="9999" u="none" cap="none" strike="noStrike">
                <a:solidFill>
                  <a:schemeClr val="lt1"/>
                </a:solidFill>
                <a:latin typeface="Arial"/>
                <a:ea typeface="Arial"/>
                <a:cs typeface="Arial"/>
                <a:sym typeface="Arial"/>
              </a:rPr>
              <a:t>Report Categories</a:t>
            </a:r>
            <a:endParaRPr b="0" i="0" sz="1400" u="none" cap="none" strike="noStrike">
              <a:solidFill>
                <a:schemeClr val="lt1"/>
              </a:solidFill>
              <a:latin typeface="Arial"/>
              <a:ea typeface="Arial"/>
              <a:cs typeface="Arial"/>
              <a:sym typeface="Arial"/>
            </a:endParaRPr>
          </a:p>
        </p:txBody>
      </p:sp>
      <p:grpSp>
        <p:nvGrpSpPr>
          <p:cNvPr id="184" name="Google Shape;184;p6"/>
          <p:cNvGrpSpPr/>
          <p:nvPr/>
        </p:nvGrpSpPr>
        <p:grpSpPr>
          <a:xfrm>
            <a:off x="666750" y="4298156"/>
            <a:ext cx="4010025" cy="1544479"/>
            <a:chOff x="0" y="66675"/>
            <a:chExt cx="5346700" cy="2059305"/>
          </a:xfrm>
        </p:grpSpPr>
        <p:sp>
          <p:nvSpPr>
            <p:cNvPr id="185" name="Google Shape;185;p6"/>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Road</a:t>
              </a:r>
              <a:endParaRPr b="0" i="0" sz="1400" u="none" cap="none" strike="noStrike">
                <a:solidFill>
                  <a:srgbClr val="000000"/>
                </a:solidFill>
                <a:latin typeface="Arial"/>
                <a:ea typeface="Arial"/>
                <a:cs typeface="Arial"/>
                <a:sym typeface="Arial"/>
              </a:endParaRPr>
            </a:p>
          </p:txBody>
        </p:sp>
        <p:sp>
          <p:nvSpPr>
            <p:cNvPr id="186" name="Google Shape;186;p6"/>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Report issues related to damaged or unsafe roads.</a:t>
              </a:r>
              <a:endParaRPr b="0" i="0" sz="1400" u="none" cap="none" strike="noStrike">
                <a:solidFill>
                  <a:srgbClr val="000000"/>
                </a:solidFill>
                <a:latin typeface="Arial"/>
                <a:ea typeface="Arial"/>
                <a:cs typeface="Arial"/>
                <a:sym typeface="Arial"/>
              </a:endParaRPr>
            </a:p>
          </p:txBody>
        </p:sp>
        <p:cxnSp>
          <p:nvCxnSpPr>
            <p:cNvPr id="187" name="Google Shape;187;p6"/>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grpSp>
        <p:nvGrpSpPr>
          <p:cNvPr id="188" name="Google Shape;188;p6"/>
          <p:cNvGrpSpPr/>
          <p:nvPr/>
        </p:nvGrpSpPr>
        <p:grpSpPr>
          <a:xfrm>
            <a:off x="6419850" y="4298156"/>
            <a:ext cx="4010025" cy="1544479"/>
            <a:chOff x="0" y="66675"/>
            <a:chExt cx="5346700" cy="2059305"/>
          </a:xfrm>
        </p:grpSpPr>
        <p:sp>
          <p:nvSpPr>
            <p:cNvPr id="189" name="Google Shape;189;p6"/>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Waste</a:t>
              </a:r>
              <a:endParaRPr b="0" i="0" sz="1400" u="none" cap="none" strike="noStrike">
                <a:solidFill>
                  <a:srgbClr val="000000"/>
                </a:solidFill>
                <a:latin typeface="Arial"/>
                <a:ea typeface="Arial"/>
                <a:cs typeface="Arial"/>
                <a:sym typeface="Arial"/>
              </a:endParaRPr>
            </a:p>
          </p:txBody>
        </p:sp>
        <p:sp>
          <p:nvSpPr>
            <p:cNvPr id="190" name="Google Shape;190;p6"/>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Highlight the need for better waste management practices.</a:t>
              </a:r>
              <a:endParaRPr b="0" i="0" sz="1400" u="none" cap="none" strike="noStrike">
                <a:solidFill>
                  <a:srgbClr val="000000"/>
                </a:solidFill>
                <a:latin typeface="Arial"/>
                <a:ea typeface="Arial"/>
                <a:cs typeface="Arial"/>
                <a:sym typeface="Arial"/>
              </a:endParaRPr>
            </a:p>
          </p:txBody>
        </p:sp>
        <p:cxnSp>
          <p:nvCxnSpPr>
            <p:cNvPr id="191" name="Google Shape;191;p6"/>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grpSp>
        <p:nvGrpSpPr>
          <p:cNvPr id="192" name="Google Shape;192;p6"/>
          <p:cNvGrpSpPr/>
          <p:nvPr/>
        </p:nvGrpSpPr>
        <p:grpSpPr>
          <a:xfrm>
            <a:off x="12172950" y="4298156"/>
            <a:ext cx="4010025" cy="1544479"/>
            <a:chOff x="0" y="66675"/>
            <a:chExt cx="5346700" cy="2059305"/>
          </a:xfrm>
        </p:grpSpPr>
        <p:sp>
          <p:nvSpPr>
            <p:cNvPr id="193" name="Google Shape;193;p6"/>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Drainage</a:t>
              </a:r>
              <a:endParaRPr b="0" i="0" sz="1400" u="none" cap="none" strike="noStrike">
                <a:solidFill>
                  <a:srgbClr val="000000"/>
                </a:solidFill>
                <a:latin typeface="Arial"/>
                <a:ea typeface="Arial"/>
                <a:cs typeface="Arial"/>
                <a:sym typeface="Arial"/>
              </a:endParaRPr>
            </a:p>
          </p:txBody>
        </p:sp>
        <p:sp>
          <p:nvSpPr>
            <p:cNvPr id="194" name="Google Shape;194;p6"/>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Address problems caused by poor drainage systems.</a:t>
              </a:r>
              <a:endParaRPr b="0" i="0" sz="1400" u="none" cap="none" strike="noStrike">
                <a:solidFill>
                  <a:srgbClr val="000000"/>
                </a:solidFill>
                <a:latin typeface="Arial"/>
                <a:ea typeface="Arial"/>
                <a:cs typeface="Arial"/>
                <a:sym typeface="Arial"/>
              </a:endParaRPr>
            </a:p>
          </p:txBody>
        </p:sp>
        <p:cxnSp>
          <p:nvCxnSpPr>
            <p:cNvPr id="195" name="Google Shape;195;p6"/>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grpSp>
        <p:nvGrpSpPr>
          <p:cNvPr id="196" name="Google Shape;196;p6"/>
          <p:cNvGrpSpPr/>
          <p:nvPr/>
        </p:nvGrpSpPr>
        <p:grpSpPr>
          <a:xfrm>
            <a:off x="666750" y="6984206"/>
            <a:ext cx="4010025" cy="1544479"/>
            <a:chOff x="0" y="66675"/>
            <a:chExt cx="5346700" cy="2059305"/>
          </a:xfrm>
        </p:grpSpPr>
        <p:sp>
          <p:nvSpPr>
            <p:cNvPr id="197" name="Google Shape;197;p6"/>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Electricity</a:t>
              </a:r>
              <a:endParaRPr b="0" i="0" sz="1400" u="none" cap="none" strike="noStrike">
                <a:solidFill>
                  <a:srgbClr val="000000"/>
                </a:solidFill>
                <a:latin typeface="Arial"/>
                <a:ea typeface="Arial"/>
                <a:cs typeface="Arial"/>
                <a:sym typeface="Arial"/>
              </a:endParaRPr>
            </a:p>
          </p:txBody>
        </p:sp>
        <p:sp>
          <p:nvSpPr>
            <p:cNvPr id="198" name="Google Shape;198;p6"/>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Report outages and electrical infrastructure concerns.</a:t>
              </a:r>
              <a:endParaRPr b="0" i="0" sz="1400" u="none" cap="none" strike="noStrike">
                <a:solidFill>
                  <a:srgbClr val="000000"/>
                </a:solidFill>
                <a:latin typeface="Arial"/>
                <a:ea typeface="Arial"/>
                <a:cs typeface="Arial"/>
                <a:sym typeface="Arial"/>
              </a:endParaRPr>
            </a:p>
          </p:txBody>
        </p:sp>
        <p:cxnSp>
          <p:nvCxnSpPr>
            <p:cNvPr id="199" name="Google Shape;199;p6"/>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grpSp>
        <p:nvGrpSpPr>
          <p:cNvPr id="200" name="Google Shape;200;p6"/>
          <p:cNvGrpSpPr/>
          <p:nvPr/>
        </p:nvGrpSpPr>
        <p:grpSpPr>
          <a:xfrm>
            <a:off x="6419850" y="6984206"/>
            <a:ext cx="4010025" cy="1544479"/>
            <a:chOff x="0" y="66675"/>
            <a:chExt cx="5346700" cy="2059305"/>
          </a:xfrm>
        </p:grpSpPr>
        <p:sp>
          <p:nvSpPr>
            <p:cNvPr id="201" name="Google Shape;201;p6"/>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Emergency</a:t>
              </a:r>
              <a:endParaRPr b="0" i="0" sz="1400" u="none" cap="none" strike="noStrike">
                <a:solidFill>
                  <a:srgbClr val="000000"/>
                </a:solidFill>
                <a:latin typeface="Arial"/>
                <a:ea typeface="Arial"/>
                <a:cs typeface="Arial"/>
                <a:sym typeface="Arial"/>
              </a:endParaRPr>
            </a:p>
          </p:txBody>
        </p:sp>
        <p:sp>
          <p:nvSpPr>
            <p:cNvPr id="202" name="Google Shape;202;p6"/>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Urgent reports for immediate community safety issues.</a:t>
              </a:r>
              <a:endParaRPr b="0" i="0" sz="1400" u="none" cap="none" strike="noStrike">
                <a:solidFill>
                  <a:srgbClr val="000000"/>
                </a:solidFill>
                <a:latin typeface="Arial"/>
                <a:ea typeface="Arial"/>
                <a:cs typeface="Arial"/>
                <a:sym typeface="Arial"/>
              </a:endParaRPr>
            </a:p>
          </p:txBody>
        </p:sp>
        <p:cxnSp>
          <p:nvCxnSpPr>
            <p:cNvPr id="203" name="Google Shape;203;p6"/>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grpSp>
        <p:nvGrpSpPr>
          <p:cNvPr id="204" name="Google Shape;204;p6"/>
          <p:cNvGrpSpPr/>
          <p:nvPr/>
        </p:nvGrpSpPr>
        <p:grpSpPr>
          <a:xfrm>
            <a:off x="12172950" y="6984206"/>
            <a:ext cx="4010025" cy="1544479"/>
            <a:chOff x="0" y="66675"/>
            <a:chExt cx="5346700" cy="2059305"/>
          </a:xfrm>
        </p:grpSpPr>
        <p:sp>
          <p:nvSpPr>
            <p:cNvPr id="205" name="Google Shape;205;p6"/>
            <p:cNvSpPr txBox="1"/>
            <p:nvPr/>
          </p:nvSpPr>
          <p:spPr>
            <a:xfrm>
              <a:off x="0" y="66675"/>
              <a:ext cx="5346700" cy="5302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99"/>
                <a:buFont typeface="Arial"/>
                <a:buNone/>
              </a:pPr>
              <a:r>
                <a:rPr b="0" i="0" lang="en-US" sz="2999" u="none" cap="none" strike="noStrike">
                  <a:solidFill>
                    <a:srgbClr val="000000"/>
                  </a:solidFill>
                  <a:latin typeface="Arial"/>
                  <a:ea typeface="Arial"/>
                  <a:cs typeface="Arial"/>
                  <a:sym typeface="Arial"/>
                </a:rPr>
                <a:t>Fights</a:t>
              </a:r>
              <a:endParaRPr b="0" i="0" sz="1400" u="none" cap="none" strike="noStrike">
                <a:solidFill>
                  <a:srgbClr val="000000"/>
                </a:solidFill>
                <a:latin typeface="Arial"/>
                <a:ea typeface="Arial"/>
                <a:cs typeface="Arial"/>
                <a:sym typeface="Arial"/>
              </a:endParaRPr>
            </a:p>
          </p:txBody>
        </p:sp>
        <p:sp>
          <p:nvSpPr>
            <p:cNvPr id="206" name="Google Shape;206;p6"/>
            <p:cNvSpPr txBox="1"/>
            <p:nvPr/>
          </p:nvSpPr>
          <p:spPr>
            <a:xfrm>
              <a:off x="12962" y="1158875"/>
              <a:ext cx="5333738" cy="9671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000000"/>
                  </a:solidFill>
                  <a:latin typeface="Inter"/>
                  <a:ea typeface="Inter"/>
                  <a:cs typeface="Inter"/>
                  <a:sym typeface="Inter"/>
                </a:rPr>
                <a:t>Notify about disturbances or violent confrontations happening.</a:t>
              </a:r>
              <a:endParaRPr b="0" i="0" sz="1400" u="none" cap="none" strike="noStrike">
                <a:solidFill>
                  <a:srgbClr val="000000"/>
                </a:solidFill>
                <a:latin typeface="Arial"/>
                <a:ea typeface="Arial"/>
                <a:cs typeface="Arial"/>
                <a:sym typeface="Arial"/>
              </a:endParaRPr>
            </a:p>
          </p:txBody>
        </p:sp>
        <p:cxnSp>
          <p:nvCxnSpPr>
            <p:cNvPr id="207" name="Google Shape;207;p6"/>
            <p:cNvCxnSpPr/>
            <p:nvPr/>
          </p:nvCxnSpPr>
          <p:spPr>
            <a:xfrm>
              <a:off x="12962" y="895350"/>
              <a:ext cx="5333738" cy="0"/>
            </a:xfrm>
            <a:prstGeom prst="straightConnector1">
              <a:avLst/>
            </a:prstGeom>
            <a:noFill/>
            <a:ln cap="flat" cmpd="sng" w="25400">
              <a:solidFill>
                <a:srgbClr val="000000"/>
              </a:solidFill>
              <a:prstDash val="solid"/>
              <a:round/>
              <a:headEnd len="sm" w="sm" type="none"/>
              <a:tailEnd len="sm" w="sm" type="none"/>
            </a:ln>
          </p:spPr>
        </p:cxnSp>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7"/>
          <p:cNvSpPr txBox="1"/>
          <p:nvPr/>
        </p:nvSpPr>
        <p:spPr>
          <a:xfrm>
            <a:off x="320350" y="609600"/>
            <a:ext cx="2832000" cy="2308800"/>
          </a:xfrm>
          <a:prstGeom prst="rect">
            <a:avLst/>
          </a:prstGeom>
          <a:solidFill>
            <a:srgbClr val="047857"/>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999"/>
              <a:buFont typeface="Arial"/>
              <a:buNone/>
            </a:pPr>
            <a:r>
              <a:rPr b="0" i="0" lang="en-US" sz="5000" u="none" cap="none" strike="noStrike">
                <a:solidFill>
                  <a:schemeClr val="lt1"/>
                </a:solidFill>
                <a:latin typeface="Arial"/>
                <a:ea typeface="Arial"/>
                <a:cs typeface="Arial"/>
                <a:sym typeface="Arial"/>
              </a:rPr>
              <a:t>Report</a:t>
            </a:r>
            <a:r>
              <a:rPr lang="en-US" sz="5000">
                <a:solidFill>
                  <a:schemeClr val="lt1"/>
                </a:solidFill>
              </a:rPr>
              <a:t> </a:t>
            </a:r>
            <a:r>
              <a:rPr b="0" i="0" lang="en-US" sz="5000" u="none" cap="none" strike="noStrike">
                <a:solidFill>
                  <a:schemeClr val="lt1"/>
                </a:solidFill>
                <a:latin typeface="Arial"/>
                <a:ea typeface="Arial"/>
                <a:cs typeface="Arial"/>
                <a:sym typeface="Arial"/>
              </a:rPr>
              <a:t>Screen Mockups</a:t>
            </a:r>
            <a:endParaRPr b="0" i="0" sz="5000" u="none" cap="none" strike="noStrike">
              <a:solidFill>
                <a:schemeClr val="lt1"/>
              </a:solidFill>
              <a:latin typeface="Arial"/>
              <a:ea typeface="Arial"/>
              <a:cs typeface="Arial"/>
              <a:sym typeface="Arial"/>
            </a:endParaRPr>
          </a:p>
        </p:txBody>
      </p:sp>
      <p:grpSp>
        <p:nvGrpSpPr>
          <p:cNvPr id="213" name="Google Shape;213;p7"/>
          <p:cNvGrpSpPr/>
          <p:nvPr/>
        </p:nvGrpSpPr>
        <p:grpSpPr>
          <a:xfrm>
            <a:off x="666750" y="8724900"/>
            <a:ext cx="895350" cy="895350"/>
            <a:chOff x="0" y="0"/>
            <a:chExt cx="1193800" cy="1193800"/>
          </a:xfrm>
        </p:grpSpPr>
        <p:grpSp>
          <p:nvGrpSpPr>
            <p:cNvPr id="214" name="Google Shape;214;p7"/>
            <p:cNvGrpSpPr/>
            <p:nvPr/>
          </p:nvGrpSpPr>
          <p:grpSpPr>
            <a:xfrm>
              <a:off x="0" y="0"/>
              <a:ext cx="1193800" cy="1193800"/>
              <a:chOff x="0" y="0"/>
              <a:chExt cx="812800" cy="812800"/>
            </a:xfrm>
          </p:grpSpPr>
          <p:sp>
            <p:nvSpPr>
              <p:cNvPr id="215" name="Google Shape;21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cap="sq" cmpd="sng" w="1905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7"/>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7"/>
            <p:cNvSpPr/>
            <p:nvPr/>
          </p:nvSpPr>
          <p:spPr>
            <a:xfrm>
              <a:off x="302457" y="301921"/>
              <a:ext cx="588886" cy="589958"/>
            </a:xfrm>
            <a:custGeom>
              <a:rect b="b" l="l" r="r" t="t"/>
              <a:pathLst>
                <a:path extrusionOk="0" h="589958" w="588886">
                  <a:moveTo>
                    <a:pt x="0" y="0"/>
                  </a:moveTo>
                  <a:lnTo>
                    <a:pt x="588886" y="0"/>
                  </a:lnTo>
                  <a:lnTo>
                    <a:pt x="588886" y="589958"/>
                  </a:lnTo>
                  <a:lnTo>
                    <a:pt x="0" y="589958"/>
                  </a:lnTo>
                  <a:lnTo>
                    <a:pt x="0" y="0"/>
                  </a:lnTo>
                  <a:close/>
                </a:path>
              </a:pathLst>
            </a:custGeom>
            <a:blipFill rotWithShape="1">
              <a:blip r:embed="rId3">
                <a:alphaModFix/>
              </a:blip>
              <a:stretch>
                <a:fillRect b="0" l="0" r="0" t="0"/>
              </a:stretch>
            </a:blipFill>
            <a:ln>
              <a:noFill/>
            </a:ln>
          </p:spPr>
        </p:sp>
      </p:grpSp>
      <p:pic>
        <p:nvPicPr>
          <p:cNvPr id="218" name="Google Shape;218;p7" title="RA3.jpeg"/>
          <p:cNvPicPr preferRelativeResize="0"/>
          <p:nvPr/>
        </p:nvPicPr>
        <p:blipFill>
          <a:blip r:embed="rId4">
            <a:alphaModFix/>
          </a:blip>
          <a:stretch>
            <a:fillRect/>
          </a:stretch>
        </p:blipFill>
        <p:spPr>
          <a:xfrm>
            <a:off x="3419550" y="152400"/>
            <a:ext cx="5111999" cy="9982202"/>
          </a:xfrm>
          <a:prstGeom prst="rect">
            <a:avLst/>
          </a:prstGeom>
          <a:noFill/>
          <a:ln>
            <a:noFill/>
          </a:ln>
        </p:spPr>
      </p:pic>
      <p:pic>
        <p:nvPicPr>
          <p:cNvPr id="219" name="Google Shape;219;p7" title="RA2.jpeg"/>
          <p:cNvPicPr preferRelativeResize="0"/>
          <p:nvPr/>
        </p:nvPicPr>
        <p:blipFill>
          <a:blip r:embed="rId5">
            <a:alphaModFix/>
          </a:blip>
          <a:stretch>
            <a:fillRect/>
          </a:stretch>
        </p:blipFill>
        <p:spPr>
          <a:xfrm>
            <a:off x="8798740" y="152400"/>
            <a:ext cx="4772740" cy="9982202"/>
          </a:xfrm>
          <a:prstGeom prst="rect">
            <a:avLst/>
          </a:prstGeom>
          <a:noFill/>
          <a:ln>
            <a:noFill/>
          </a:ln>
        </p:spPr>
      </p:pic>
      <p:pic>
        <p:nvPicPr>
          <p:cNvPr id="220" name="Google Shape;220;p7" title="RA1.jpeg"/>
          <p:cNvPicPr preferRelativeResize="0"/>
          <p:nvPr/>
        </p:nvPicPr>
        <p:blipFill>
          <a:blip r:embed="rId6">
            <a:alphaModFix/>
          </a:blip>
          <a:stretch>
            <a:fillRect/>
          </a:stretch>
        </p:blipFill>
        <p:spPr>
          <a:xfrm>
            <a:off x="13854225" y="152400"/>
            <a:ext cx="4433776" cy="9982202"/>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7857"/>
        </a:solidFill>
      </p:bgPr>
    </p:bg>
    <p:spTree>
      <p:nvGrpSpPr>
        <p:cNvPr id="224" name="Shape 224"/>
        <p:cNvGrpSpPr/>
        <p:nvPr/>
      </p:nvGrpSpPr>
      <p:grpSpPr>
        <a:xfrm>
          <a:off x="0" y="0"/>
          <a:ext cx="0" cy="0"/>
          <a:chOff x="0" y="0"/>
          <a:chExt cx="0" cy="0"/>
        </a:xfrm>
      </p:grpSpPr>
      <p:sp>
        <p:nvSpPr>
          <p:cNvPr id="225" name="Google Shape;225;p8"/>
          <p:cNvSpPr txBox="1"/>
          <p:nvPr/>
        </p:nvSpPr>
        <p:spPr>
          <a:xfrm>
            <a:off x="666750" y="857250"/>
            <a:ext cx="8325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999"/>
              <a:buFont typeface="Arial"/>
              <a:buNone/>
            </a:pPr>
            <a:r>
              <a:t/>
            </a:r>
            <a:endParaRPr b="0" i="0" sz="1400" u="none" cap="none" strike="noStrike">
              <a:solidFill>
                <a:srgbClr val="000000"/>
              </a:solidFill>
              <a:latin typeface="Arial"/>
              <a:ea typeface="Arial"/>
              <a:cs typeface="Arial"/>
              <a:sym typeface="Arial"/>
            </a:endParaRPr>
          </a:p>
        </p:txBody>
      </p:sp>
      <p:grpSp>
        <p:nvGrpSpPr>
          <p:cNvPr id="226" name="Google Shape;226;p8"/>
          <p:cNvGrpSpPr/>
          <p:nvPr/>
        </p:nvGrpSpPr>
        <p:grpSpPr>
          <a:xfrm>
            <a:off x="9248550" y="5606269"/>
            <a:ext cx="8760261" cy="928459"/>
            <a:chOff x="0" y="-38100"/>
            <a:chExt cx="7264500" cy="1103207"/>
          </a:xfrm>
        </p:grpSpPr>
        <p:sp>
          <p:nvSpPr>
            <p:cNvPr id="227" name="Google Shape;227;p8"/>
            <p:cNvSpPr txBox="1"/>
            <p:nvPr/>
          </p:nvSpPr>
          <p:spPr>
            <a:xfrm>
              <a:off x="0" y="-38100"/>
              <a:ext cx="7264500" cy="6399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2799"/>
                <a:buFont typeface="Arial"/>
                <a:buNone/>
              </a:pPr>
              <a:r>
                <a:rPr lang="en-US" sz="3499">
                  <a:solidFill>
                    <a:srgbClr val="FFFFFF"/>
                  </a:solidFill>
                  <a:latin typeface="Inter"/>
                  <a:ea typeface="Inter"/>
                  <a:cs typeface="Inter"/>
                  <a:sym typeface="Inter"/>
                </a:rPr>
                <a:t>Thanks for Watching</a:t>
              </a:r>
              <a:endParaRPr b="0" i="0" sz="2100" u="none" cap="none" strike="noStrike">
                <a:solidFill>
                  <a:srgbClr val="000000"/>
                </a:solidFill>
                <a:latin typeface="Arial"/>
                <a:ea typeface="Arial"/>
                <a:cs typeface="Arial"/>
                <a:sym typeface="Arial"/>
              </a:endParaRPr>
            </a:p>
          </p:txBody>
        </p:sp>
        <p:cxnSp>
          <p:nvCxnSpPr>
            <p:cNvPr id="228" name="Google Shape;228;p8"/>
            <p:cNvCxnSpPr/>
            <p:nvPr/>
          </p:nvCxnSpPr>
          <p:spPr>
            <a:xfrm>
              <a:off x="0" y="1065107"/>
              <a:ext cx="7246800" cy="0"/>
            </a:xfrm>
            <a:prstGeom prst="straightConnector1">
              <a:avLst/>
            </a:prstGeom>
            <a:noFill/>
            <a:ln cap="flat" cmpd="sng" w="25400">
              <a:solidFill>
                <a:srgbClr val="FFFFFF"/>
              </a:solidFill>
              <a:prstDash val="solid"/>
              <a:round/>
              <a:headEnd len="sm" w="sm" type="none"/>
              <a:tailEnd len="sm" w="sm" type="none"/>
            </a:ln>
          </p:spPr>
        </p:cxnSp>
      </p:grpSp>
      <p:sp>
        <p:nvSpPr>
          <p:cNvPr id="229" name="Google Shape;229;p8"/>
          <p:cNvSpPr txBox="1"/>
          <p:nvPr/>
        </p:nvSpPr>
        <p:spPr>
          <a:xfrm>
            <a:off x="9248538" y="6924004"/>
            <a:ext cx="83250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lang="en-US" sz="3800">
                <a:solidFill>
                  <a:schemeClr val="lt1"/>
                </a:solidFill>
                <a:latin typeface="Calibri"/>
                <a:ea typeface="Calibri"/>
                <a:cs typeface="Calibri"/>
                <a:sym typeface="Calibri"/>
              </a:rPr>
              <a:t>TEAM NOVA</a:t>
            </a:r>
            <a:endParaRPr b="0" i="0" sz="3800" u="none" cap="none" strike="noStrike">
              <a:solidFill>
                <a:schemeClr val="lt1"/>
              </a:solidFill>
              <a:latin typeface="Calibri"/>
              <a:ea typeface="Calibri"/>
              <a:cs typeface="Calibri"/>
              <a:sym typeface="Calibri"/>
            </a:endParaRPr>
          </a:p>
        </p:txBody>
      </p:sp>
      <p:pic>
        <p:nvPicPr>
          <p:cNvPr id="230" name="Google Shape;230;p8" title="RA5.jpeg"/>
          <p:cNvPicPr preferRelativeResize="0"/>
          <p:nvPr/>
        </p:nvPicPr>
        <p:blipFill>
          <a:blip r:embed="rId3">
            <a:alphaModFix/>
          </a:blip>
          <a:stretch>
            <a:fillRect/>
          </a:stretch>
        </p:blipFill>
        <p:spPr>
          <a:xfrm>
            <a:off x="152400" y="215900"/>
            <a:ext cx="8909550" cy="9918700"/>
          </a:xfrm>
          <a:prstGeom prst="rect">
            <a:avLst/>
          </a:prstGeom>
          <a:noFill/>
          <a:ln>
            <a:noFill/>
          </a:ln>
        </p:spPr>
      </p:pic>
    </p:spTree>
  </p:cSld>
  <p:clrMapOvr>
    <a:masterClrMapping/>
  </p:clrMapOvr>
  <p:transition>
    <p:fad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